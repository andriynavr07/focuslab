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</ns0:sldIdLst>
  <ns0:sldSz cx="12192000" cy="6858000" type="screen4x3"/>
  <ns0:notesSz cx="6858000" cy="9144000"/>
  <ns0:embeddedFontLst>
    <ns0:embeddedFont>
      <ns0:font typeface="Plus Jakarta Sans"/>
      <ns0:bold ns1:id="rIdFont15"/>
      <ns0:regular ns1:id="rIdFont16"/>
    </ns0:embeddedFont>
    <ns0:embeddedFont>
      <ns0:font typeface="JetBrains Mono"/>
      <ns0:bold ns1:id="rIdFont17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Font15" Type="http://schemas.openxmlformats.org/officeDocument/2006/relationships/font" Target="fonts/e33948e1-7708-483f-b3f1-f8d8eaf65230.fntdata" /><ns0:Relationship Id="rIdFont16" Type="http://schemas.openxmlformats.org/officeDocument/2006/relationships/font" Target="fonts/38a187cb-10d9-45d9-8515-42b06259fd09.fntdata" /><ns0:Relationship Id="rIdFont17" Type="http://schemas.openxmlformats.org/officeDocument/2006/relationships/font" Target="fonts/264297ac-2190-4bd2-80be-7b836955b2e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837432"/>
            <a:ext cx="2667000" cy="323850"/>
          </a:xfrm>
          <a:prstGeom prst="roundRect">
            <a:avLst>
              <a:gd name="adj" fmla="val 23529"/>
            </a:avLst>
          </a:prstGeom>
          <a:solidFill>
            <a:srgbClr val="1322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4591942"/>
            <a:ext cx="2352675" cy="428625"/>
          </a:xfrm>
          <a:prstGeom prst="roundRect">
            <a:avLst>
              <a:gd name="adj" fmla="val 1777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90875" y="4591942"/>
            <a:ext cx="2219325" cy="428625"/>
          </a:xfrm>
          <a:prstGeom prst="roundRect">
            <a:avLst>
              <a:gd name="adj" fmla="val 1777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4720530"/>
            <a:ext cx="19050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4720530"/>
            <a:ext cx="190500" cy="1714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2389882"/>
            <a:ext cx="9101137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FFFFFF"/>
                </a:solidFill>
                <a:latin typeface="Plus Jakarta Sans"/>
              </a:rPr>
              <a:t>FocusLab: Пріоритизація завдань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715642"/>
            <a:ext cx="723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Plus Jakarta Sans"/>
              </a:rPr>
              <a:t>Стратегічний розподіл функціоналу за методологією MoSCoW та покроковий роадмап розробки MVP.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913632"/>
            <a:ext cx="29527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0A5FA"/>
                </a:solidFill>
                <a:latin typeface="JetBrains Mono"/>
              </a:rPr>
              <a:t>WPF / .NET 8 / EF Core / SQLite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50" y="4706242"/>
            <a:ext cx="2107406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Windows Desktop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7125" y="4706242"/>
            <a:ext cx="194071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Plus Jakarta Sans"/>
              </a:rPr>
              <a:t>MoSCoW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86037"/>
            <a:ext cx="3505200" cy="2527696"/>
          </a:xfrm>
          <a:prstGeom prst="roundRect">
            <a:avLst>
              <a:gd name="adj" fmla="val 4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586037"/>
            <a:ext cx="3505200" cy="2527696"/>
          </a:xfrm>
          <a:prstGeom prst="roundRect">
            <a:avLst>
              <a:gd name="adj" fmla="val 4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586037"/>
            <a:ext cx="3505200" cy="2527696"/>
          </a:xfrm>
          <a:prstGeom prst="roundRect">
            <a:avLst>
              <a:gd name="adj" fmla="val 452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8908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8908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8908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225" y="3014662"/>
            <a:ext cx="209550" cy="209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2" y="3014662"/>
            <a:ext cx="180975" cy="209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5825" y="3014662"/>
            <a:ext cx="20955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B82F6"/>
                </a:solidFill>
                <a:latin typeface="Plus Jakarta Sans"/>
              </a:rPr>
              <a:t>ТЕХНІЧНИЙ ФУНДАМЕНТ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Архітектура та Стеки FocusLab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37484"/>
            <a:ext cx="3619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2563EB"/>
                </a:solidFill>
                <a:latin typeface="JetBrains Mono"/>
              </a:rPr>
              <a:t>#WPF #NET8 #XAML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8200" y="4637484"/>
            <a:ext cx="3619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#SQLite #EFCore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4637484"/>
            <a:ext cx="3619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333EA"/>
                </a:solidFill>
                <a:latin typeface="JetBrains Mono"/>
              </a:rPr>
              <a:t>#ADONET #AsyncSQL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38537"/>
            <a:ext cx="38004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UI &amp; Взаємодія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29062"/>
            <a:ext cx="29908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WPF на .NET 8 з інтерактивною Канбан-дошкою Drag &amp; Drop.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3538537"/>
            <a:ext cx="38004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Автономна БД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3929062"/>
            <a:ext cx="29908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SQLite з EF Core міграціями та локальним збереженням.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3538537"/>
            <a:ext cx="38004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Аналітика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0" y="3929062"/>
            <a:ext cx="29908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Прямі асинхронні SQL-запити ADO.NET для звітів.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165008" y="2816423"/>
            <a:ext cx="866775" cy="247650"/>
          </a:xfrm>
          <a:prstGeom prst="roundRect">
            <a:avLst>
              <a:gd name="adj" fmla="val 2307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165008" y="3283148"/>
            <a:ext cx="866775" cy="247650"/>
          </a:xfrm>
          <a:prstGeom prst="roundRect">
            <a:avLst>
              <a:gd name="adj" fmla="val 2307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65008" y="3749873"/>
            <a:ext cx="866775" cy="247650"/>
          </a:xfrm>
          <a:prstGeom prst="roundRect">
            <a:avLst>
              <a:gd name="adj" fmla="val 2307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65008" y="4216598"/>
            <a:ext cx="866775" cy="247650"/>
          </a:xfrm>
          <a:prstGeom prst="roundRect">
            <a:avLst>
              <a:gd name="adj" fmla="val 2307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165008" y="4683323"/>
            <a:ext cx="990600" cy="247650"/>
          </a:xfrm>
          <a:prstGeom prst="roundRect">
            <a:avLst>
              <a:gd name="adj" fmla="val 2307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165008" y="5150048"/>
            <a:ext cx="933450" cy="247650"/>
          </a:xfrm>
          <a:prstGeom prst="roundRect">
            <a:avLst>
              <a:gd name="adj" fmla="val 23076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600" y="2187773"/>
          <a:ext cx="10953747" cy="33242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327993"/>
                <a:gridCol w="3844825"/>
                <a:gridCol w="2182564"/>
                <a:gridCol w="1893242"/>
                <a:gridCol w="1705123"/>
              </a:tblGrid>
              <a:tr h="47488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ID Story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Назва User Story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Модуль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Пріоритет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Складність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47488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JetBrains Mono"/>
                        </a:rPr>
                        <a:t>US-5.1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Автономний старт та БД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Системний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88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JetBrains Mono"/>
                        </a:rPr>
                        <a:t>US-1.1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Створення та CRUD задач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Task Board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7488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JetBrains Mono"/>
                        </a:rPr>
                        <a:t>US-1.2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Переміщення задач (Drag &amp; Drop)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Task Board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88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JetBrains Mono"/>
                        </a:rPr>
                        <a:t>US-2.2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Миттєвий запуск ресурсів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Quick Launcher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Low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  <a:tr h="47488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JetBrains Mono"/>
                        </a:rPr>
                        <a:t>US-3.1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Запуск фокус-сесії Pomodoro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Pomodoro Timer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Medium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4891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JetBrains Mono"/>
                        </a:rPr>
                        <a:t>US-4.1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1E293B"/>
                          </a:solidFill>
                          <a:latin typeface="Plus Jakarta Sans"/>
                        </a:rPr>
                        <a:t>Аналітика та SQL-звіти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Analytics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High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B82F6"/>
                </a:solidFill>
                <a:latin typeface="Plus Jakarta Sans"/>
              </a:rPr>
              <a:t>ЗВЕДЕНИЙ АНАЛІЗ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Матриця пріоритетів User Stories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60258" y="2854523"/>
            <a:ext cx="7715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5803D"/>
                </a:solidFill>
                <a:latin typeface="Plus Jakarta Sans"/>
              </a:rPr>
              <a:t>Must Have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60258" y="3321248"/>
            <a:ext cx="7715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5803D"/>
                </a:solidFill>
                <a:latin typeface="Plus Jakarta Sans"/>
              </a:rPr>
              <a:t>Must Have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60258" y="3787973"/>
            <a:ext cx="7715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5803D"/>
                </a:solidFill>
                <a:latin typeface="Plus Jakarta Sans"/>
              </a:rPr>
              <a:t>Must Have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0258" y="4254698"/>
            <a:ext cx="771525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5803D"/>
                </a:solidFill>
                <a:latin typeface="Plus Jakarta Sans"/>
              </a:rPr>
              <a:t>Must Have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0258" y="4721423"/>
            <a:ext cx="89535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Plus Jakarta Sans"/>
              </a:rPr>
              <a:t>Should Have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0258" y="5188148"/>
            <a:ext cx="8382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338CA"/>
                </a:solidFill>
                <a:latin typeface="Plus Jakarta Sans"/>
              </a:rPr>
              <a:t>Could Have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969549" y="587573"/>
            <a:ext cx="1612850" cy="352425"/>
          </a:xfrm>
          <a:prstGeom prst="roundRect">
            <a:avLst>
              <a:gd name="adj" fmla="val 1621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49029"/>
            <a:ext cx="2571750" cy="1763762"/>
          </a:xfrm>
          <a:prstGeom prst="roundRect">
            <a:avLst>
              <a:gd name="adj" fmla="val 648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9950" y="3055590"/>
            <a:ext cx="2571750" cy="1550491"/>
          </a:xfrm>
          <a:prstGeom prst="roundRect">
            <a:avLst>
              <a:gd name="adj" fmla="val 7371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3060352"/>
            <a:ext cx="2571750" cy="1540966"/>
          </a:xfrm>
          <a:prstGeom prst="roundRect">
            <a:avLst>
              <a:gd name="adj" fmla="val 741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010650" y="3060352"/>
            <a:ext cx="2571750" cy="1540966"/>
          </a:xfrm>
          <a:prstGeom prst="roundRect">
            <a:avLst>
              <a:gd name="adj" fmla="val 741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21949" y="663773"/>
            <a:ext cx="14033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5803D"/>
                </a:solidFill>
                <a:latin typeface="Plus Jakarta Sans"/>
              </a:rPr>
              <a:t>4 Ключові Stories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6752518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Plus Jakarta Sans"/>
              </a:rPr>
              <a:t>КРИТИЧНИЙ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7090143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1. Must Have — Базовий функціонал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225254"/>
            <a:ext cx="2524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US-5.1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472904"/>
            <a:ext cx="265033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Автономна БД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796754"/>
            <a:ext cx="2114550" cy="6398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374151"/>
                </a:solidFill>
                <a:latin typeface="Plus Jakarta Sans"/>
              </a:rPr>
              <a:t>Ініціалізація SQLite та міграції EF Core без інтернету.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6175" y="3331815"/>
            <a:ext cx="2524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US-1.1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6175" y="3579465"/>
            <a:ext cx="265033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CRUD Задач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6175" y="3903315"/>
            <a:ext cx="21145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374151"/>
                </a:solidFill>
                <a:latin typeface="Plus Jakarta Sans"/>
              </a:rPr>
              <a:t>Створення, редагування та видалення сутностей задач.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3336577"/>
            <a:ext cx="2524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US-1.2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3584227"/>
            <a:ext cx="26503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Drag &amp; Drop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3898552"/>
            <a:ext cx="21145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374151"/>
                </a:solidFill>
                <a:latin typeface="Plus Jakarta Sans"/>
              </a:rPr>
              <a:t>Інтерактивне переміщення картки по колонках Канбан.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6875" y="3336577"/>
            <a:ext cx="25241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6A34A"/>
                </a:solidFill>
                <a:latin typeface="JetBrains Mono"/>
              </a:rPr>
              <a:t>US-2.2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6875" y="3584227"/>
            <a:ext cx="265033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Quick Launch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6875" y="3898552"/>
            <a:ext cx="2114550" cy="426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200" i="0" u="none">
                <a:solidFill>
                  <a:srgbClr val="374151"/>
                </a:solidFill>
                <a:latin typeface="Plus Jakarta Sans"/>
              </a:rPr>
              <a:t>Миттєве відкриття файлів через Process.Start.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050512" y="587573"/>
            <a:ext cx="1531887" cy="352425"/>
          </a:xfrm>
          <a:prstGeom prst="roundRect">
            <a:avLst>
              <a:gd name="adj" fmla="val 16216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054548"/>
            <a:ext cx="3505200" cy="1590675"/>
          </a:xfrm>
          <a:prstGeom prst="roundRect">
            <a:avLst>
              <a:gd name="adj" fmla="val 7185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3054548"/>
            <a:ext cx="3505200" cy="1590675"/>
          </a:xfrm>
          <a:prstGeom prst="roundRect">
            <a:avLst>
              <a:gd name="adj" fmla="val 7185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3164085"/>
            <a:ext cx="3505200" cy="1371600"/>
          </a:xfrm>
          <a:prstGeom prst="roundRect">
            <a:avLst>
              <a:gd name="adj" fmla="val 8333"/>
            </a:avLst>
          </a:prstGeom>
          <a:solidFill>
            <a:srgbClr val="FFFBEB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02912" y="663773"/>
            <a:ext cx="1322337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45309"/>
                </a:solidFill>
                <a:latin typeface="Plus Jakarta Sans"/>
              </a:rPr>
              <a:t>Повноцінний 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680814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D97706"/>
                </a:solidFill>
                <a:latin typeface="Plus Jakarta Sans"/>
              </a:rPr>
              <a:t>РОЗШИРЕННЯ МОЖЛИВОСТЕЙ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7148549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2. Should Have — Таймер та Ресурси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683198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Прикріплення локальних файлів, папок та URL-посилань безпосередньо до картки задачі.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683198"/>
            <a:ext cx="3048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Запуск фокус-сесій з чергуванням відпочинку, сповіщеннями Windows та фіксацією в БД.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802260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B5563"/>
                </a:solidFill>
                <a:latin typeface="Plus Jakarta Sans"/>
              </a:rPr>
              <a:t>Швидкий пошук за тегами, підсвічування прострочених дедлайнів та пріоритетів.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330773"/>
            <a:ext cx="191273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Quick Launcher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1375" y="3364110"/>
            <a:ext cx="742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JetBrains Mono"/>
              </a:rPr>
              <a:t>US-2.1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330773"/>
            <a:ext cx="200025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Pomodoro Timer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7975" y="3364110"/>
            <a:ext cx="12001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JetBrains Mono"/>
              </a:rPr>
              <a:t>US-3.1 / 3.2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3425" y="3440310"/>
            <a:ext cx="246183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Фільтрація &amp; Пошук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48975" y="3478410"/>
            <a:ext cx="742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B45309"/>
                </a:solidFill>
                <a:latin typeface="JetBrains Mono"/>
              </a:rPr>
              <a:t>US-1.3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299120"/>
            <a:ext cx="5334000" cy="5101679"/>
          </a:xfrm>
          <a:prstGeom prst="roundRect">
            <a:avLst>
              <a:gd name="adj" fmla="val 224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299120"/>
            <a:ext cx="5334000" cy="5101679"/>
          </a:xfrm>
          <a:prstGeom prst="roundRect">
            <a:avLst>
              <a:gd name="adj" fmla="val 2240"/>
            </a:avLst>
          </a:prstGeom>
          <a:solidFill>
            <a:srgbClr val="FEF2F2"/>
          </a:solidFill>
          <a:ln w="9525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925" y="3059310"/>
            <a:ext cx="1114425" cy="314325"/>
          </a:xfrm>
          <a:prstGeom prst="roundRect">
            <a:avLst>
              <a:gd name="adj" fmla="val 18181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62725" y="3183135"/>
            <a:ext cx="1114425" cy="314325"/>
          </a:xfrm>
          <a:prstGeom prst="roundRect">
            <a:avLst>
              <a:gd name="adj" fmla="val 1818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3711773"/>
            <a:ext cx="1143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4026098"/>
            <a:ext cx="11430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725" y="4340423"/>
            <a:ext cx="1143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B82F6"/>
                </a:solidFill>
                <a:latin typeface="Plus Jakarta Sans"/>
              </a:rPr>
              <a:t>МЕЖІ ПРОЄКТУ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Could Have та Won't Have (Поза релізом)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564135"/>
            <a:ext cx="61757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Аналітика та SQL-звіти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954660"/>
            <a:ext cx="48006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C1D95"/>
                </a:solidFill>
                <a:latin typeface="Plus Jakarta Sans"/>
              </a:rPr>
              <a:t>Побудова вкладки аналітики з інтерактивними графіками та асинхронними ADO.NET запитами (GROUP BY, SUM). Реалізується після наповнення БД сесіями.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7275" y="3116460"/>
            <a:ext cx="942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338CA"/>
                </a:solidFill>
                <a:latin typeface="Plus Jakarta Sans"/>
              </a:rPr>
              <a:t>Could Have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52650" y="3130748"/>
            <a:ext cx="7429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6B21A8"/>
                </a:solidFill>
                <a:latin typeface="JetBrains Mono"/>
              </a:rPr>
              <a:t>US-4.1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6075" y="3240285"/>
            <a:ext cx="9429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91C1C"/>
                </a:solidFill>
                <a:latin typeface="Plus Jakarta Sans"/>
              </a:rPr>
              <a:t>Won't Have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1450" y="3254573"/>
            <a:ext cx="247873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991B1B"/>
                </a:solidFill>
                <a:latin typeface="Plus Jakarta Sans"/>
              </a:rPr>
              <a:t>Поза межами поточного релізу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72275" y="3687960"/>
            <a:ext cx="541972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7F1D1D"/>
                </a:solidFill>
                <a:latin typeface="Plus Jakarta Sans"/>
              </a:rPr>
              <a:t>Хмарна синхронізація між пристроями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72275" y="4002285"/>
            <a:ext cx="541972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7F1D1D"/>
                </a:solidFill>
                <a:latin typeface="Plus Jakarta Sans"/>
              </a:rPr>
              <a:t>Багатокористувацький доступ до дошок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2275" y="4316610"/>
            <a:ext cx="5419725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0" sz="1200" i="0" u="none">
                <a:solidFill>
                  <a:srgbClr val="7F1D1D"/>
                </a:solidFill>
                <a:latin typeface="Plus Jakarta Sans"/>
              </a:rPr>
              <a:t>Інтеграція з Google Calendar &amp; Outlook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11673"/>
            <a:ext cx="262890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3011685"/>
            <a:ext cx="26289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3011685"/>
            <a:ext cx="2628900" cy="1676400"/>
          </a:xfrm>
          <a:prstGeom prst="roundRect">
            <a:avLst>
              <a:gd name="adj" fmla="val 681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3111698"/>
            <a:ext cx="26289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911673"/>
            <a:ext cx="26289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90900" y="3011685"/>
            <a:ext cx="26289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3011685"/>
            <a:ext cx="2628900" cy="381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53500" y="3111698"/>
            <a:ext cx="26289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B82F6"/>
                </a:solidFill>
                <a:latin typeface="Plus Jakarta Sans"/>
              </a:rPr>
              <a:t>ЕТАПИ РЕАЛІЗАЦІЇ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656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1" sz="2400" i="0" u="none">
                <a:solidFill>
                  <a:srgbClr val="0F172A"/>
                </a:solidFill>
                <a:latin typeface="Plus Jakarta Sans"/>
              </a:rPr>
              <a:t>Покроковий роадмап розробки FocusLab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178373"/>
            <a:ext cx="2714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2563EB"/>
                </a:solidFill>
                <a:latin typeface="JetBrains Mono"/>
              </a:rPr>
              <a:t>ЕТАП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416498"/>
            <a:ext cx="28503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Архітектура &amp; CRUD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759398"/>
            <a:ext cx="22669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• US-5.1: Налаштування SQLite + EF Core.</a:t>
            </a:r>
            <a:r>
              <a:t>
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• US-1.1: Створення та валідація задач.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3278385"/>
            <a:ext cx="2714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JetBrains Mono"/>
              </a:rPr>
              <a:t>ЕТАП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500" y="3516510"/>
            <a:ext cx="28503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Інтерактивний 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500" y="3859410"/>
            <a:ext cx="2266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• US-1.2: Drag &amp; Drop Канбан.</a:t>
            </a:r>
            <a:r>
              <a:t>
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• US-2.2 / 2.1: Quick Launcher ресурсів.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278385"/>
            <a:ext cx="2714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F172A"/>
                </a:solidFill>
                <a:latin typeface="JetBrains Mono"/>
              </a:rPr>
              <a:t>ЕТАП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16510"/>
            <a:ext cx="28503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Таймер &amp; 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59410"/>
            <a:ext cx="2266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• US-3.1 / 3.2: Pomodoro сесії.</a:t>
            </a:r>
            <a:r>
              <a:t>
</a:t>
            </a:r>
            <a:r>
              <a:rPr b="0" sz="1125" i="0" u="none">
                <a:solidFill>
                  <a:srgbClr val="475569"/>
                </a:solidFill>
                <a:latin typeface="Plus Jakarta Sans"/>
              </a:rPr>
              <a:t> • US-1.3: Пошук, теги та дедлайни.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2100" y="3378398"/>
            <a:ext cx="2714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8B5CF6"/>
                </a:solidFill>
                <a:latin typeface="JetBrains Mono"/>
              </a:rPr>
              <a:t>ЕТАП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2100" y="3616523"/>
            <a:ext cx="2850356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Аналітика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3959423"/>
            <a:ext cx="2266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• US-4.1: ADO.NET запити, графіки та підбиття підсумків.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62537" y="4162425"/>
            <a:ext cx="2066925" cy="447675"/>
          </a:xfrm>
          <a:prstGeom prst="roundRect">
            <a:avLst>
              <a:gd name="adj" fmla="val 1702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662" y="4314825"/>
            <a:ext cx="133350" cy="15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38750" y="2247900"/>
            <a:ext cx="17145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JetBrains Mono"/>
              </a:rPr>
              <a:t>FOCUSLAB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91861" y="2571750"/>
            <a:ext cx="720812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Готові до реалізації MVP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3343275"/>
            <a:ext cx="71437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Фокус на критичному функціоналі дозволяє отримати стабільну версію застосунку вже після Етапу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2771" y="4276725"/>
            <a:ext cx="2126456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Plus Jakarta Sans"/>
              </a:rPr>
              <a:t>MVP Ready Scope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